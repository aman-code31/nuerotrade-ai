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497" r:id="rId3"/>
    <p:sldId id="499" r:id="rId4"/>
    <p:sldId id="500" r:id="rId5"/>
    <p:sldId id="501" r:id="rId6"/>
    <p:sldId id="502" r:id="rId7"/>
    <p:sldId id="503" r:id="rId8"/>
    <p:sldId id="504" r:id="rId9"/>
    <p:sldId id="509" r:id="rId10"/>
    <p:sldId id="505" r:id="rId11"/>
    <p:sldId id="508" r:id="rId12"/>
    <p:sldId id="506" r:id="rId13"/>
    <p:sldId id="507" r:id="rId14"/>
    <p:sldId id="269" r:id="rId15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216" autoAdjust="0"/>
    <p:restoredTop sz="94683"/>
  </p:normalViewPr>
  <p:slideViewPr>
    <p:cSldViewPr>
      <p:cViewPr varScale="1">
        <p:scale>
          <a:sx n="102" d="100"/>
          <a:sy n="102" d="100"/>
        </p:scale>
        <p:origin x="17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05/02/26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05/02/26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05/02/26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05/02/26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05/02/26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05/02/26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05/02/26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05/02/26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05/02/26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05/02/26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05/02/26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05/02/26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05/02/26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datasets/kalilurrahman/apple-stock-data-live-and-latest-from-ipo-date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kaggle.com/datasets/adilshamim8/google-stocks-historical-dat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ewsdata.io/" TargetMode="External"/><Relationship Id="rId5" Type="http://schemas.openxmlformats.org/officeDocument/2006/relationships/hyperlink" Target="https://newsapi.org/" TargetMode="Externa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Second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754573"/>
              </p:ext>
            </p:extLst>
          </p:nvPr>
        </p:nvGraphicFramePr>
        <p:xfrm>
          <a:off x="1696134" y="3086001"/>
          <a:ext cx="6096000" cy="2399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998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99837">
                <a:tc>
                  <a:txBody>
                    <a:bodyPr/>
                    <a:lstStyle/>
                    <a:p>
                      <a:r>
                        <a:rPr lang="en-US" dirty="0"/>
                        <a:t>2401010012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Lucky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99837">
                <a:tc>
                  <a:txBody>
                    <a:bodyPr/>
                    <a:lstStyle/>
                    <a:p>
                      <a:r>
                        <a:rPr lang="en-US" dirty="0"/>
                        <a:t>2401010005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Aryan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99837">
                <a:tc>
                  <a:txBody>
                    <a:bodyPr/>
                    <a:lstStyle/>
                    <a:p>
                      <a:r>
                        <a:rPr lang="en-US" dirty="0"/>
                        <a:t>2401010009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Gaurav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399837">
                <a:tc>
                  <a:txBody>
                    <a:bodyPr/>
                    <a:lstStyle/>
                    <a:p>
                      <a:r>
                        <a:rPr lang="en-US" dirty="0"/>
                        <a:t>2401010141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351405"/>
                  </a:ext>
                </a:extLst>
              </a:tr>
              <a:tr h="399837">
                <a:tc>
                  <a:txBody>
                    <a:bodyPr/>
                    <a:lstStyle/>
                    <a:p>
                      <a:r>
                        <a:rPr lang="en-US" dirty="0"/>
                        <a:t>2401010077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Divesh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2299287" y="1212054"/>
            <a:ext cx="46592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US" sz="4000" b="1" dirty="0" err="1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NeuroTrade</a:t>
            </a:r>
            <a:endParaRPr lang="en-IN" sz="4000" b="1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Ms. Neetu Chauhan</a:t>
            </a: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270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Problem: The conventional stock analysis process involves the use of multiple tools, such as stock price charts on one platform and news on another. This creates a problem for individual investors, who find it hard to determine the actual market sentiment</a:t>
            </a:r>
            <a:r>
              <a:rPr lang="en-US" sz="160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fontAlgn="base">
              <a:lnSpc>
                <a:spcPct val="107000"/>
              </a:lnSpc>
            </a:pPr>
            <a:endParaRPr lang="en-US" sz="1600" kern="1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7000"/>
              </a:lnSpc>
            </a:pPr>
            <a:r>
              <a:rPr lang="en-US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Solution: The project proposes the development of a web-based platform that integrates Quantitative Analysis (historical stock prices) with Qualitative Analysis (news sentiment analysis) to present a comprehensive market outlook</a:t>
            </a:r>
            <a:r>
              <a:rPr lang="en-US" sz="16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 fontAlgn="base">
              <a:lnSpc>
                <a:spcPct val="107000"/>
              </a:lnSpc>
            </a:pPr>
            <a:endParaRPr lang="en-US" sz="16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7000"/>
              </a:lnSpc>
            </a:pPr>
            <a:r>
              <a:rPr lang="en-US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Core Logic: The project applies Deep Learning algorithms to predict stock price trends while also employing Natural Language Processing (NLP) to "read" financial news.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2612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Create a Full-Stack Web Application: Construct a responsive and real-time dashboard with the FARM Stack (</a:t>
            </a:r>
            <a:r>
              <a:rPr lang="en-US" sz="1400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React, MongoDB).</a:t>
            </a:r>
          </a:p>
          <a:p>
            <a:pPr algn="just" fontAlgn="base">
              <a:lnSpc>
                <a:spcPct val="107000"/>
              </a:lnSpc>
            </a:pPr>
            <a:endParaRPr lang="en-US" sz="1400" kern="1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7000"/>
              </a:lnSpc>
            </a:pPr>
            <a:r>
              <a:rPr 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Execute Sentiment Analysis: Launch the </a:t>
            </a:r>
            <a:r>
              <a:rPr lang="en-US" sz="1400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FinBERT</a:t>
            </a:r>
            <a:r>
              <a:rPr 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model to examine financial news headlines and determine market sentiment (Positive/Negative) with high domain-specific accuracy.</a:t>
            </a:r>
          </a:p>
          <a:p>
            <a:pPr algn="just" fontAlgn="base">
              <a:lnSpc>
                <a:spcPct val="107000"/>
              </a:lnSpc>
            </a:pPr>
            <a:endParaRPr lang="en-US" sz="1400" kern="1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7000"/>
              </a:lnSpc>
            </a:pPr>
            <a:r>
              <a:rPr 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Predict Price Trends: Train a Long Short-Term Memory (LSTM) neural network on 5 years of historical data to forecast short-term stock price trends.</a:t>
            </a:r>
          </a:p>
          <a:p>
            <a:pPr algn="just" fontAlgn="base">
              <a:lnSpc>
                <a:spcPct val="107000"/>
              </a:lnSpc>
            </a:pPr>
            <a:endParaRPr lang="en-US" sz="1400" kern="1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7000"/>
              </a:lnSpc>
            </a:pPr>
            <a:r>
              <a:rPr 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Visualize Insights: Design interactive charts to display sentiment overlays on price charts for effective decision-making.</a:t>
            </a:r>
            <a:endParaRPr lang="en-US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99B7A7-5B7C-DBF0-51D1-DE74D3FDA8F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501" y="3874306"/>
            <a:ext cx="6516216" cy="279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2182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Real-Time Dashboard: It displays real-time stock information (Open, High, Low, Close) extracted from APIs.</a:t>
            </a:r>
          </a:p>
          <a:p>
            <a:pPr algn="just" fontAlgn="base">
              <a:lnSpc>
                <a:spcPct val="107000"/>
              </a:lnSpc>
            </a:pPr>
            <a:r>
              <a:rPr lang="en-US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Sentiment Gauge: It is a meter (Green/Red) that shows the current market sentiment using the last 20 news headlines.</a:t>
            </a:r>
          </a:p>
          <a:p>
            <a:pPr algn="just" fontAlgn="base">
              <a:lnSpc>
                <a:spcPct val="107000"/>
              </a:lnSpc>
            </a:pPr>
            <a:r>
              <a:rPr lang="en-US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7-Day Price Forecast: It is a trend line that shows the forecasted stock price for the next week.</a:t>
            </a:r>
          </a:p>
          <a:p>
            <a:pPr algn="just" fontAlgn="base">
              <a:lnSpc>
                <a:spcPct val="107000"/>
              </a:lnSpc>
            </a:pPr>
            <a:r>
              <a:rPr lang="en-US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 Search: It enables users to search any company listed on the NSE/NASDAQ.</a:t>
            </a:r>
          </a:p>
          <a:p>
            <a:pPr algn="just" fontAlgn="base">
              <a:lnSpc>
                <a:spcPct val="107000"/>
              </a:lnSpc>
            </a:pPr>
            <a:r>
              <a:rPr lang="en-US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News Aggregator: It automatically scrapes and displays links to relevant financial news for the searched stock.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05B7B8-1F7B-02DA-77D8-81014EDEE1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9524"/>
            <a:ext cx="9144000" cy="259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003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Cases:</a:t>
            </a:r>
          </a:p>
          <a:p>
            <a:pPr algn="just" fontAlgn="base">
              <a:lnSpc>
                <a:spcPct val="107000"/>
              </a:lnSpc>
            </a:pPr>
            <a:endParaRPr lang="en-US" sz="1600" kern="1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7000"/>
              </a:lnSpc>
            </a:pPr>
            <a:r>
              <a:rPr lang="en-US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Retail Investors: To confirm their intuition with the help of data supported by AI.</a:t>
            </a:r>
          </a:p>
          <a:p>
            <a:pPr algn="just" fontAlgn="base">
              <a:lnSpc>
                <a:spcPct val="107000"/>
              </a:lnSpc>
            </a:pPr>
            <a:r>
              <a:rPr lang="en-US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Market Researchers: To examine the relationship between news events and market volatility.</a:t>
            </a:r>
          </a:p>
          <a:p>
            <a:pPr algn="just" fontAlgn="base">
              <a:lnSpc>
                <a:spcPct val="107000"/>
              </a:lnSpc>
            </a:pPr>
            <a:r>
              <a:rPr lang="en-US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Students: As a learning resource to learn about market behavior.</a:t>
            </a:r>
          </a:p>
          <a:p>
            <a:pPr algn="just" fontAlgn="base">
              <a:lnSpc>
                <a:spcPct val="107000"/>
              </a:lnSpc>
            </a:pPr>
            <a:endParaRPr lang="en-US" sz="16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7000"/>
              </a:lnSpc>
            </a:pPr>
            <a:r>
              <a:rPr lang="en-US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Scope:</a:t>
            </a:r>
          </a:p>
          <a:p>
            <a:pPr algn="just" fontAlgn="base">
              <a:lnSpc>
                <a:spcPct val="107000"/>
              </a:lnSpc>
            </a:pPr>
            <a:endParaRPr lang="en-US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7000"/>
              </a:lnSpc>
            </a:pPr>
            <a:r>
              <a:rPr lang="en-US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Coverage: The system supports prominent large-cap stocks (NIFTY 50, S&amp;P 500, etc.).</a:t>
            </a:r>
          </a:p>
          <a:p>
            <a:pPr algn="just" fontAlgn="base">
              <a:lnSpc>
                <a:spcPct val="107000"/>
              </a:lnSpc>
            </a:pPr>
            <a:r>
              <a:rPr lang="en-US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Data: The system examines English-language financial news only.</a:t>
            </a:r>
          </a:p>
          <a:p>
            <a:pPr algn="just" fontAlgn="base">
              <a:lnSpc>
                <a:spcPct val="107000"/>
              </a:lnSpc>
            </a:pP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C65351-4BB8-73DB-43CC-F3D0EAD8C2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811" y="4028179"/>
            <a:ext cx="5184576" cy="26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08FD3B-0A83-DFD5-D908-198F8926BC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80" y="1446316"/>
            <a:ext cx="8203240" cy="447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7A919E-7DB1-E6B8-D950-8901A88C816D}"/>
              </a:ext>
            </a:extLst>
          </p:cNvPr>
          <p:cNvSpPr txBox="1"/>
          <p:nvPr/>
        </p:nvSpPr>
        <p:spPr>
          <a:xfrm>
            <a:off x="179512" y="1502542"/>
            <a:ext cx="84969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Prices: Yahoo Finance API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yfinance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daily OHLC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Data: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https://newsapi.org/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https://newsdata.io/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for real-time headlines.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https://www.kaggle.com/datasets/adilshamim8/google-stocks-historical-data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https://www.kaggle.com/datasets/kalilurrahman/apple-stock-data-live-and-latest-from-ipo-date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Standard Laptop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Google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(T4 GPU) for faster model training.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965B1D-E2C0-1E55-4293-A8AC974151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636912"/>
            <a:ext cx="6480720" cy="358896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A0D4E6-F0B6-8061-0B7C-FBC9215850BB}"/>
              </a:ext>
            </a:extLst>
          </p:cNvPr>
          <p:cNvSpPr txBox="1"/>
          <p:nvPr/>
        </p:nvSpPr>
        <p:spPr>
          <a:xfrm>
            <a:off x="323528" y="603122"/>
            <a:ext cx="76328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Stack: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React.js, Tailwind CSS, Recharts.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3.14,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FastApi,Uvicorn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AI/ML: TensorFlow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Hugging Face Transformers, Scikit-learn, Pandas.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MongoDB (for caching search results).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339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6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Automated Data Acquisition</a:t>
            </a:r>
          </a:p>
          <a:p>
            <a:pPr algn="just" fontAlgn="base">
              <a:lnSpc>
                <a:spcPct val="107000"/>
              </a:lnSpc>
            </a:pPr>
            <a:endParaRPr lang="en-US" kern="1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codes were developed to obtain the historical OHLC data for 5 years using the </a:t>
            </a:r>
            <a:r>
              <a:rPr lang="en-US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yfinance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library and the headlines using the </a:t>
            </a:r>
            <a:r>
              <a:rPr lang="en-US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NewsAPI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was continuously available for effective model training.</a:t>
            </a:r>
          </a:p>
          <a:p>
            <a:pPr algn="just" fontAlgn="base">
              <a:lnSpc>
                <a:spcPct val="107000"/>
              </a:lnSpc>
            </a:pPr>
            <a:endParaRPr lang="en-US" kern="1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Data Preprocessing</a:t>
            </a:r>
          </a:p>
          <a:p>
            <a:pPr algn="just" fontAlgn="base">
              <a:lnSpc>
                <a:spcPct val="107000"/>
              </a:lnSpc>
            </a:pPr>
            <a:endParaRPr lang="en-US" kern="1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Quantitative: </a:t>
            </a:r>
            <a:r>
              <a:rPr lang="en-US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MinMaxScaler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was used to normalize the stock prices to a range of 0 to 1 for effective LSTM training.</a:t>
            </a:r>
          </a:p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Qualitative: Text headlines were tokenized using the BERT tokenizer to convert the text into inputs for the NLP model.</a:t>
            </a: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65E58-D9D2-D313-9562-05F90AD5F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48680"/>
            <a:ext cx="8435280" cy="55774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Dual-Model Inference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Forecasting: An LSTM model was used to identify patterns and predict the future stock price trends.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FinBERT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used to classify the stock market news into positive, negative, and neutral categories with high domain accuracy.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Integration &amp; Visualization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models' outputs were aggregated using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results were visualized on a React.js dashboard for real-time user analysis.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DD95F1-C219-FEE4-64A3-A034BE6A5B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04757"/>
            <a:ext cx="9144000" cy="220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260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97768" y="1412776"/>
            <a:ext cx="8784976" cy="2612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</a:p>
          <a:p>
            <a:pPr algn="just" fontAlgn="base">
              <a:lnSpc>
                <a:spcPct val="107000"/>
              </a:lnSpc>
            </a:pPr>
            <a:endParaRPr lang="en-US" sz="1400" kern="1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7000"/>
              </a:lnSpc>
            </a:pPr>
            <a:r>
              <a:rPr 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LSTM Accuracy: Aiming for a Mean Absolute Error (MAE) of &lt;5% on test data.</a:t>
            </a:r>
          </a:p>
          <a:p>
            <a:pPr algn="just" fontAlgn="base">
              <a:lnSpc>
                <a:spcPct val="107000"/>
              </a:lnSpc>
            </a:pPr>
            <a:r>
              <a:rPr 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Sentiment Accuracy: Achieving &gt;85% accuracy on financial headlines.</a:t>
            </a:r>
          </a:p>
          <a:p>
            <a:pPr algn="just" fontAlgn="base">
              <a:lnSpc>
                <a:spcPct val="107000"/>
              </a:lnSpc>
            </a:pPr>
            <a:r>
              <a:rPr 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Latency: Loading entire dashboard in &lt;3 seconds.</a:t>
            </a:r>
          </a:p>
          <a:p>
            <a:pPr algn="just" fontAlgn="base">
              <a:lnSpc>
                <a:spcPct val="107000"/>
              </a:lnSpc>
            </a:pPr>
            <a:endParaRPr lang="en-US" sz="1400" kern="1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7000"/>
              </a:lnSpc>
            </a:pPr>
            <a:r>
              <a:rPr 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</a:p>
          <a:p>
            <a:pPr algn="just" fontAlgn="base">
              <a:lnSpc>
                <a:spcPct val="107000"/>
              </a:lnSpc>
            </a:pPr>
            <a:endParaRPr lang="en-US" sz="1400" kern="1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07000"/>
              </a:lnSpc>
            </a:pPr>
            <a:r>
              <a:rPr 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Makes high-end analysis tools accessible to everyone.</a:t>
            </a:r>
          </a:p>
          <a:p>
            <a:pPr algn="just" fontAlgn="base">
              <a:lnSpc>
                <a:spcPct val="107000"/>
              </a:lnSpc>
            </a:pPr>
            <a:r>
              <a:rPr 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Helps new investors avoid information overload by </a:t>
            </a:r>
          </a:p>
          <a:p>
            <a:pPr algn="just" fontAlgn="base">
              <a:lnSpc>
                <a:spcPct val="107000"/>
              </a:lnSpc>
            </a:pPr>
            <a:r>
              <a:rPr 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condensing news into a single score.</a:t>
            </a:r>
            <a:endParaRPr lang="en-US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73618C-2E4B-07D1-836E-51A2E7310A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635" y="3140968"/>
            <a:ext cx="3915421" cy="334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2E809D-6085-588D-7C9A-B70A8FDA6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099742"/>
              </p:ext>
            </p:extLst>
          </p:nvPr>
        </p:nvGraphicFramePr>
        <p:xfrm>
          <a:off x="179512" y="1410873"/>
          <a:ext cx="8507289" cy="2529840"/>
        </p:xfrm>
        <a:graphic>
          <a:graphicData uri="http://schemas.openxmlformats.org/drawingml/2006/table">
            <a:tbl>
              <a:tblPr/>
              <a:tblGrid>
                <a:gridCol w="2835763">
                  <a:extLst>
                    <a:ext uri="{9D8B030D-6E8A-4147-A177-3AD203B41FA5}">
                      <a16:colId xmlns:a16="http://schemas.microsoft.com/office/drawing/2014/main" val="2497771002"/>
                    </a:ext>
                  </a:extLst>
                </a:gridCol>
                <a:gridCol w="2835763">
                  <a:extLst>
                    <a:ext uri="{9D8B030D-6E8A-4147-A177-3AD203B41FA5}">
                      <a16:colId xmlns:a16="http://schemas.microsoft.com/office/drawing/2014/main" val="3420608091"/>
                    </a:ext>
                  </a:extLst>
                </a:gridCol>
                <a:gridCol w="2835763">
                  <a:extLst>
                    <a:ext uri="{9D8B030D-6E8A-4147-A177-3AD203B41FA5}">
                      <a16:colId xmlns:a16="http://schemas.microsoft.com/office/drawing/2014/main" val="14692944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Timeline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Activities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8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1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1-2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Review, Tech Stack Setup, Data Collection Scripts.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961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2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3-6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Model Development (Training LSTM, Implementing FinBERT).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02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3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7-9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API Development (FastAPI) &amp; Database Integration.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789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4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10-12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Development (React UI), Integration, &amp; Final Testing.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0799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6263</TotalTime>
  <Words>946</Words>
  <Application>Microsoft Macintosh PowerPoint</Application>
  <PresentationFormat>On-screen Show (4:3)</PresentationFormat>
  <Paragraphs>136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Cambria</vt:lpstr>
      <vt:lpstr>Garamond</vt:lpstr>
      <vt:lpstr>Söhne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AMAN VERMA 2401010141</cp:lastModifiedBy>
  <cp:revision>313</cp:revision>
  <cp:lastPrinted>2022-09-05T08:43:44Z</cp:lastPrinted>
  <dcterms:created xsi:type="dcterms:W3CDTF">2020-01-16T09:05:56Z</dcterms:created>
  <dcterms:modified xsi:type="dcterms:W3CDTF">2026-02-05T15:56:24Z</dcterms:modified>
</cp:coreProperties>
</file>